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Libre Franklin"/>
      <p:regular r:id="rId19"/>
      <p:bold r:id="rId20"/>
      <p:italic r:id="rId21"/>
      <p:boldItalic r:id="rId22"/>
    </p:embeddedFont>
    <p:embeddedFont>
      <p:font typeface="Libre Franklin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bold.fntdata"/><Relationship Id="rId22" Type="http://schemas.openxmlformats.org/officeDocument/2006/relationships/font" Target="fonts/LibreFranklin-boldItalic.fntdata"/><Relationship Id="rId21" Type="http://schemas.openxmlformats.org/officeDocument/2006/relationships/font" Target="fonts/LibreFranklin-italic.fntdata"/><Relationship Id="rId24" Type="http://schemas.openxmlformats.org/officeDocument/2006/relationships/font" Target="fonts/LibreFranklinMedium-bold.fntdata"/><Relationship Id="rId23" Type="http://schemas.openxmlformats.org/officeDocument/2006/relationships/font" Target="fonts/LibreFranklin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ibreFranklinMedium-boldItalic.fntdata"/><Relationship Id="rId25" Type="http://schemas.openxmlformats.org/officeDocument/2006/relationships/font" Target="fonts/LibreFranklin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ibreFranklin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0b2a763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60b2a7639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0b2a763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60b2a76390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0b2a7639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60b2a76390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0b2a7639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60b2a76390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0b2a7639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60b2a76390_0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0b2a7639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60b2a76390_0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fab5f0a2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5fab5f0a24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fab5f0a2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5fab5f0a24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0b2a7639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60b2a76390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0b2a7639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60b2a76390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0b2a7639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60b2a76390_0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7010400" y="3432265"/>
            <a:ext cx="1981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38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4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4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4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4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457200" y="2052960"/>
            <a:ext cx="6324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Libre Franklin Medium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/>
          <p:nvPr/>
        </p:nvSpPr>
        <p:spPr>
          <a:xfrm>
            <a:off x="7035188" y="226378"/>
            <a:ext cx="1931623" cy="2050494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35189" y="226378"/>
            <a:ext cx="1931622" cy="2050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idx="1" type="body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" name="Google Shape;33;p3"/>
          <p:cNvSpPr txBox="1"/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7162799" y="2892277"/>
            <a:ext cx="1600201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2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4"/>
          <p:cNvSpPr txBox="1"/>
          <p:nvPr>
            <p:ph idx="11" type="ftr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type="title"/>
          </p:nvPr>
        </p:nvSpPr>
        <p:spPr>
          <a:xfrm>
            <a:off x="381000" y="2892277"/>
            <a:ext cx="6324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Libre Franklin Medium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idx="1" type="body"/>
          </p:nvPr>
        </p:nvSpPr>
        <p:spPr>
          <a:xfrm>
            <a:off x="457200" y="1719072"/>
            <a:ext cx="4038600" cy="4407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◼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4648200" y="1719072"/>
            <a:ext cx="4038600" cy="4407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◼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5" name="Google Shape;45;p5"/>
          <p:cNvSpPr txBox="1"/>
          <p:nvPr>
            <p:ph idx="10" type="dt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1" type="ftr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idx="1" type="body"/>
          </p:nvPr>
        </p:nvSpPr>
        <p:spPr>
          <a:xfrm>
            <a:off x="457200" y="1722438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457200" y="2438399"/>
            <a:ext cx="4040188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◼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4645025" y="1722438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4645025" y="2438399"/>
            <a:ext cx="4041775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◼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idx="10" type="dt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 txBox="1"/>
          <p:nvPr>
            <p:ph idx="10" type="dt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bg>
      <p:bgPr>
        <a:solidFill>
          <a:schemeClr val="lt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609600" y="304800"/>
            <a:ext cx="58674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◼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7159752" y="2130552"/>
            <a:ext cx="1673352" cy="2816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7" name="Google Shape;77;p9"/>
          <p:cNvSpPr txBox="1"/>
          <p:nvPr>
            <p:ph type="title"/>
          </p:nvPr>
        </p:nvSpPr>
        <p:spPr>
          <a:xfrm>
            <a:off x="7159752" y="457200"/>
            <a:ext cx="167566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ibre Franklin Medium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bg>
      <p:bgPr>
        <a:solidFill>
          <a:schemeClr val="dk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>
            <p:ph idx="2" type="pic"/>
          </p:nvPr>
        </p:nvSpPr>
        <p:spPr>
          <a:xfrm>
            <a:off x="152400" y="152400"/>
            <a:ext cx="6705600" cy="65532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0"/>
          <p:cNvSpPr txBox="1"/>
          <p:nvPr>
            <p:ph idx="1" type="body"/>
          </p:nvPr>
        </p:nvSpPr>
        <p:spPr>
          <a:xfrm>
            <a:off x="7162800" y="2133600"/>
            <a:ext cx="16764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10"/>
          <p:cNvSpPr txBox="1"/>
          <p:nvPr>
            <p:ph idx="10" type="dt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1" type="ftr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7162800" y="460248"/>
            <a:ext cx="16764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ibre Franklin Medium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 rot="5400000">
            <a:off x="2381242" y="-281171"/>
            <a:ext cx="4407408" cy="8407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0" type="dt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1" type="ftr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2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5075238" y="2362201"/>
            <a:ext cx="5851525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gif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  <a:defRPr b="0" i="0" sz="3200" u="none" cap="none" strike="noStrike">
                <a:solidFill>
                  <a:schemeClr val="l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◼"/>
              <a:defRPr b="0" i="0" sz="20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3429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3pPr>
            <a:lvl4pPr indent="-3175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4pPr>
            <a:lvl5pPr indent="-311150" lvl="4" marL="2286000" marR="0" rtl="0" algn="l">
              <a:spcBef>
                <a:spcPts val="26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Noto Sans Symbols"/>
              <a:buChar char="▪"/>
              <a:defRPr b="0" i="0" sz="13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5pPr>
            <a:lvl6pPr indent="-304800" lvl="5" marL="2743200" marR="0" rtl="0" algn="l"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6pPr>
            <a:lvl7pPr indent="-304800" lvl="6" marL="3200400" marR="0" rtl="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7pPr>
            <a:lvl8pPr indent="-304800" lvl="7" marL="3657600" marR="0" rtl="0" algn="l">
              <a:spcBef>
                <a:spcPts val="24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8pPr>
            <a:lvl9pPr indent="-304800" lvl="8" marL="4114800" marR="0" rtl="0" algn="l">
              <a:spcBef>
                <a:spcPts val="24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400">
              <a:solidFill>
                <a:srgbClr val="FFFFFF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84368" y="215250"/>
            <a:ext cx="993668" cy="430683"/>
          </a:xfrm>
          <a:prstGeom prst="roundRect">
            <a:avLst>
              <a:gd fmla="val 14123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idx="1" type="subTitle"/>
          </p:nvPr>
        </p:nvSpPr>
        <p:spPr>
          <a:xfrm>
            <a:off x="251520" y="4653136"/>
            <a:ext cx="6589712" cy="1612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pt-BR">
                <a:solidFill>
                  <a:srgbClr val="B7CCE4"/>
                </a:solidFill>
              </a:rPr>
              <a:t>Davi Costa Mendes da Silva</a:t>
            </a:r>
            <a:br>
              <a:rPr b="1" lang="pt-BR">
                <a:solidFill>
                  <a:srgbClr val="B7CCE4"/>
                </a:solidFill>
              </a:rPr>
            </a:br>
            <a:r>
              <a:rPr b="1" lang="pt-BR">
                <a:solidFill>
                  <a:srgbClr val="B7CCE4"/>
                </a:solidFill>
              </a:rPr>
              <a:t>Ryan Souza Santana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pt-BR" sz="1800">
                <a:solidFill>
                  <a:srgbClr val="B7CCE4"/>
                </a:solidFill>
              </a:rPr>
              <a:t>Discentes – CCNT/UEPA</a:t>
            </a:r>
            <a:endParaRPr i="1" sz="1800">
              <a:solidFill>
                <a:srgbClr val="B7CCE4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pt-BR" sz="1800">
                <a:solidFill>
                  <a:srgbClr val="B7CCE4"/>
                </a:solidFill>
              </a:rPr>
              <a:t>davi.cmdsilva@aluno.uepa.br</a:t>
            </a:r>
            <a:endParaRPr sz="1800">
              <a:solidFill>
                <a:srgbClr val="B7CCE4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pt-BR" sz="1800">
                <a:solidFill>
                  <a:srgbClr val="B7CCE4"/>
                </a:solidFill>
              </a:rPr>
              <a:t>ryan.ssantana@aluno.uepa.br</a:t>
            </a:r>
            <a:endParaRPr/>
          </a:p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8" name="Google Shape;108;p13"/>
          <p:cNvSpPr txBox="1"/>
          <p:nvPr>
            <p:ph type="title"/>
          </p:nvPr>
        </p:nvSpPr>
        <p:spPr>
          <a:xfrm>
            <a:off x="251525" y="551824"/>
            <a:ext cx="6540600" cy="3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80"/>
              <a:buFont typeface="Libre Franklin Medium"/>
              <a:buNone/>
            </a:pPr>
            <a:r>
              <a:rPr lang="pt-BR" sz="3580"/>
              <a:t>Análise </a:t>
            </a:r>
            <a:r>
              <a:rPr lang="pt-BR" sz="3580"/>
              <a:t>C</a:t>
            </a:r>
            <a:r>
              <a:rPr lang="pt-BR" sz="3580"/>
              <a:t>omparativa de LLMs na </a:t>
            </a:r>
            <a:r>
              <a:rPr lang="pt-BR" sz="3580"/>
              <a:t>E</a:t>
            </a:r>
            <a:r>
              <a:rPr lang="pt-BR" sz="3580"/>
              <a:t>laboração de </a:t>
            </a:r>
            <a:r>
              <a:rPr lang="pt-BR" sz="3580"/>
              <a:t>R</a:t>
            </a:r>
            <a:r>
              <a:rPr lang="pt-BR" sz="3580"/>
              <a:t>esumos de </a:t>
            </a:r>
            <a:r>
              <a:rPr lang="pt-BR" sz="3580"/>
              <a:t>E</a:t>
            </a:r>
            <a:r>
              <a:rPr lang="pt-BR" sz="3580"/>
              <a:t>ditais </a:t>
            </a:r>
            <a:r>
              <a:rPr lang="pt-BR" sz="3580"/>
              <a:t>P</a:t>
            </a:r>
            <a:r>
              <a:rPr lang="pt-BR" sz="3580"/>
              <a:t>úblicos:</a:t>
            </a:r>
            <a:br>
              <a:rPr lang="pt-BR" sz="3580"/>
            </a:br>
            <a:r>
              <a:rPr lang="pt-BR" sz="2590"/>
              <a:t>Uma Abordagem com Estratégias de Engenharia de Prompt</a:t>
            </a:r>
            <a:endParaRPr sz="3580" cap="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</a:pPr>
            <a:r>
              <a:rPr lang="pt-BR"/>
              <a:t>ROTEIRO</a:t>
            </a:r>
            <a:endParaRPr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Problema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Justificativa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Hipótese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Objetivos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Metodologia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Resultados esperados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Cronograma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Orçamento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type="title"/>
          </p:nvPr>
        </p:nvSpPr>
        <p:spPr>
          <a:xfrm>
            <a:off x="381000" y="355847"/>
            <a:ext cx="83814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</a:pPr>
            <a:r>
              <a:rPr lang="pt-BR"/>
              <a:t>PROBLEMA</a:t>
            </a:r>
            <a:endParaRPr/>
          </a:p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380999" y="1719071"/>
            <a:ext cx="84078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Pergunta norteadora: Qual LLM disponível ao público é mais confiável e melhor performa no resumo de editais aplicando diferentes técnicas de engenharia de prompt considerando critérios de coerência e integridade da informação?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381000" y="355847"/>
            <a:ext cx="83814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</a:pPr>
            <a:r>
              <a:rPr lang="pt-BR"/>
              <a:t>JUSTIFICATIVA</a:t>
            </a:r>
            <a:endParaRPr/>
          </a:p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380999" y="1719071"/>
            <a:ext cx="84078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	No mundo onde somos rodeados por informação, o processo de sumarização se torna </a:t>
            </a:r>
            <a:r>
              <a:rPr lang="pt-BR"/>
              <a:t>indispensável</a:t>
            </a:r>
            <a:r>
              <a:rPr lang="pt-BR"/>
              <a:t> para conseguir condensar o conhecimento. Diante disso, muito se pesquisa sobre a criação de </a:t>
            </a:r>
            <a:r>
              <a:rPr lang="pt-BR"/>
              <a:t>sumarização</a:t>
            </a:r>
            <a:r>
              <a:rPr lang="pt-BR"/>
              <a:t> </a:t>
            </a:r>
            <a:r>
              <a:rPr lang="pt-BR"/>
              <a:t>automáticas, mais especificamente, no uso de LLMs para resumos abstrativos. Essa prática já é viável com modelos modernos, no entanto, ainda se investiga sobre a qualidade e a veracidade das informações empregadas nos textos gerados.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	Ademais, pouco se dedicou a avaliar criticamente a coerência lógica e a integridade factual dos resumos gerados por LLMs em cenários de uso real, isto é, não controlados por métricas acadêmicas ou conjuntos de problemas idealizados.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381000" y="355847"/>
            <a:ext cx="83814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</a:pPr>
            <a:r>
              <a:rPr lang="pt-BR"/>
              <a:t>HIPÓTESE</a:t>
            </a:r>
            <a:endParaRPr/>
          </a:p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380999" y="1719071"/>
            <a:ext cx="84078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Considerando o avanço das LLMs na produção de texto, pressupõe-se que a ocorrência de variações significativas e erros na geração de conteúdo pelos modelos testados seja baixa. As principais discrepâncias nos resultados tendem a estar associadas às diferenças nos prompts utilizados.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381000" y="355847"/>
            <a:ext cx="83814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380999" y="1719071"/>
            <a:ext cx="84078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7432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O objetivo dessa pesquisa é determinar, dentre 4 IAs generativas, ChatGPT, Gemini, DeepSeek e Copilot, qual performa melhor no resumo abstrativo de editais. Para tanto, os seguintes objetivos específicos deverão ser atingidos:</a:t>
            </a:r>
            <a:endParaRPr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Definição das melhores técnicas para construção dos prompts para uso na criação dos resumos;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Avaliação dos resultados da interação cada um dos modelos com cada prompt construído e seleção os melhores resumos;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Comparação dos melhores resumos e seleção da melhor opção de modelo e modelo/prompt para sumarização.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381000" y="355847"/>
            <a:ext cx="83814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380999" y="1719071"/>
            <a:ext cx="84078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◼"/>
            </a:pPr>
            <a:r>
              <a:rPr b="1" lang="pt-BR">
                <a:latin typeface="Libre Franklin"/>
                <a:ea typeface="Libre Franklin"/>
                <a:cs typeface="Libre Franklin"/>
                <a:sym typeface="Libre Franklin"/>
              </a:rPr>
              <a:t>Coleta dos editais:</a:t>
            </a:r>
            <a:r>
              <a:rPr lang="pt-BR"/>
              <a:t> Serão escolhidos 5 a 10 editais </a:t>
            </a:r>
            <a:r>
              <a:rPr lang="pt-BR"/>
              <a:t>públicos</a:t>
            </a:r>
            <a:r>
              <a:rPr lang="pt-BR"/>
              <a:t> representativos de diferentes áreas (concursos, licitações, bolsas, ingressos).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◼"/>
            </a:pPr>
            <a:r>
              <a:rPr b="1" lang="pt-BR">
                <a:latin typeface="Libre Franklin"/>
                <a:ea typeface="Libre Franklin"/>
                <a:cs typeface="Libre Franklin"/>
                <a:sym typeface="Libre Franklin"/>
              </a:rPr>
              <a:t>Construção dos prompts: </a:t>
            </a:r>
            <a:r>
              <a:rPr lang="pt-BR"/>
              <a:t>Serão desenvolvidos 3 instruções, uma simplificada, simulando um usuário normal, mais duas utilizando engenharia de prompt (Chain-of-Thought e Extrativa-Abstrativa), todas exigirão uma estrutura em </a:t>
            </a:r>
            <a:r>
              <a:rPr lang="pt-BR"/>
              <a:t>tópicos</a:t>
            </a:r>
            <a:r>
              <a:rPr lang="pt-BR"/>
              <a:t> (título, resumo geral, cargos e vagas, requisitos, critérios, datas, taxas e valores).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◼"/>
            </a:pPr>
            <a:r>
              <a:rPr b="1" lang="pt-BR">
                <a:latin typeface="Libre Franklin"/>
                <a:ea typeface="Libre Franklin"/>
                <a:cs typeface="Libre Franklin"/>
                <a:sym typeface="Libre Franklin"/>
              </a:rPr>
              <a:t>Geração dos resumos: </a:t>
            </a:r>
            <a:r>
              <a:rPr lang="pt-BR"/>
              <a:t>Será gerado um resumo para cada combinação de modelo/prompt. Serão feitos manualmente pelos sites </a:t>
            </a:r>
            <a:r>
              <a:rPr lang="pt-BR"/>
              <a:t>oficiais com parâmetros padrões</a:t>
            </a:r>
            <a:r>
              <a:rPr lang="pt-BR"/>
              <a:t>, simulando o uso do dia-a-dia. Se o resumo seguir a estrutura proposta, ele será catalogado e armazenado.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381000" y="355847"/>
            <a:ext cx="83814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367799" y="1758871"/>
            <a:ext cx="84078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◼"/>
            </a:pPr>
            <a:r>
              <a:rPr b="1" lang="pt-BR">
                <a:latin typeface="Libre Franklin"/>
                <a:ea typeface="Libre Franklin"/>
                <a:cs typeface="Libre Franklin"/>
                <a:sym typeface="Libre Franklin"/>
              </a:rPr>
              <a:t>Avaliação dos resumos: </a:t>
            </a:r>
            <a:r>
              <a:rPr lang="pt-BR"/>
              <a:t>Um </a:t>
            </a:r>
            <a:r>
              <a:rPr lang="pt-BR"/>
              <a:t>formulário</a:t>
            </a:r>
            <a:r>
              <a:rPr lang="pt-BR"/>
              <a:t> será desenvolvido para coletar a avaliação de cada resumo nas </a:t>
            </a:r>
            <a:r>
              <a:rPr lang="pt-BR"/>
              <a:t>métricas</a:t>
            </a:r>
            <a:r>
              <a:rPr lang="pt-BR"/>
              <a:t> de </a:t>
            </a:r>
            <a:r>
              <a:rPr lang="pt-BR"/>
              <a:t>relevância</a:t>
            </a:r>
            <a:r>
              <a:rPr lang="pt-BR"/>
              <a:t>, </a:t>
            </a:r>
            <a:r>
              <a:rPr lang="pt-BR"/>
              <a:t>consistência</a:t>
            </a:r>
            <a:r>
              <a:rPr lang="pt-BR"/>
              <a:t>, </a:t>
            </a:r>
            <a:r>
              <a:rPr lang="pt-BR"/>
              <a:t>fluência</a:t>
            </a:r>
            <a:r>
              <a:rPr lang="pt-BR"/>
              <a:t> e </a:t>
            </a:r>
            <a:r>
              <a:rPr lang="pt-BR"/>
              <a:t>coerência</a:t>
            </a:r>
            <a:r>
              <a:rPr lang="pt-BR"/>
              <a:t>. Utilizaremos o Google forms, montando um formulário para cada </a:t>
            </a:r>
            <a:r>
              <a:rPr lang="pt-BR"/>
              <a:t>edital</a:t>
            </a:r>
            <a:r>
              <a:rPr lang="pt-BR"/>
              <a:t> e suas seções representarão seus resumos. Na primeira parte do formulário consta instruções sobre a avaliação e uma descrição das métricas e um link para o edital que foi resumido. Nas seções, </a:t>
            </a:r>
            <a:r>
              <a:rPr lang="pt-BR"/>
              <a:t>haverá</a:t>
            </a:r>
            <a:r>
              <a:rPr lang="pt-BR"/>
              <a:t> um link para o resumo em questão, um para o texto original e uma estrutura para avaliar de 1 a 5 cada métrica. Todos os </a:t>
            </a:r>
            <a:r>
              <a:rPr lang="pt-BR"/>
              <a:t>formulários</a:t>
            </a:r>
            <a:r>
              <a:rPr lang="pt-BR"/>
              <a:t> serão preenchidos pelos avaliadores </a:t>
            </a:r>
            <a:r>
              <a:rPr lang="pt-BR"/>
              <a:t>voluntários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381000" y="355847"/>
            <a:ext cx="83814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</a:pPr>
            <a:r>
              <a:rPr lang="pt-BR"/>
              <a:t>METODOLOGIA</a:t>
            </a:r>
            <a:endParaRPr/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50" y="2233951"/>
            <a:ext cx="3800475" cy="3914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3300" y="2130375"/>
            <a:ext cx="3648075" cy="41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381000" y="355847"/>
            <a:ext cx="83814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380999" y="1719071"/>
            <a:ext cx="84078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◼"/>
            </a:pPr>
            <a:r>
              <a:rPr b="1" lang="pt-BR">
                <a:latin typeface="Libre Franklin"/>
                <a:ea typeface="Libre Franklin"/>
                <a:cs typeface="Libre Franklin"/>
                <a:sym typeface="Libre Franklin"/>
              </a:rPr>
              <a:t>Classificação das avaliações: </a:t>
            </a:r>
            <a:r>
              <a:rPr lang="pt-BR"/>
              <a:t>As avaliações serão </a:t>
            </a:r>
            <a:r>
              <a:rPr lang="pt-BR"/>
              <a:t>transferidas para o Google Planilhas, iremos organizar os resumos, identificando cada um através da disposição deles em cada Formulário e separando eles por modelo e prompt.  Ao fim desse processo, haverá uma tabela por edital, destacando as notas de cada resumo e segmentando por prompt e modelo.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◼"/>
            </a:pPr>
            <a:r>
              <a:rPr b="1" lang="pt-BR">
                <a:latin typeface="Libre Franklin"/>
                <a:ea typeface="Libre Franklin"/>
                <a:cs typeface="Libre Franklin"/>
                <a:sym typeface="Libre Franklin"/>
              </a:rPr>
              <a:t>Comparação e análise das melhores avaliações:</a:t>
            </a:r>
            <a:r>
              <a:rPr lang="pt-BR"/>
              <a:t> R</a:t>
            </a:r>
            <a:r>
              <a:rPr lang="pt-BR"/>
              <a:t>ealizaremos o ranqueamento dos modelos, dos prompts e de suas combinações. Para isso, será calculado as média das notas ob</a:t>
            </a:r>
            <a:r>
              <a:rPr lang="pt-BR"/>
              <a:t>tidas</a:t>
            </a:r>
            <a:r>
              <a:rPr lang="pt-BR"/>
              <a:t>. Com esses dados, se identificará qual combinação, modelo isoladamente e prompt isoladamente obteve melhores resultados.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381000" y="355847"/>
            <a:ext cx="83814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</a:pPr>
            <a:r>
              <a:rPr lang="pt-BR"/>
              <a:t>RESULTADOS ESPERADOS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380999" y="1719071"/>
            <a:ext cx="84078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Após o processo realizado pela metodologia apresentada, definimos três resultados que podem servir de marco da pesquisa realizada:</a:t>
            </a:r>
            <a:endParaRPr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Espera-se construir prompts eficientes tanto para um usuário leigo quanto para o profissional conhecedor de engenharia de prompt que atendam a demanda exigida.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Espera-se obter uma base de resumos avaliados que cumpra seu papel nessa pesquisa e que sirva para futuros trabalhos.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Com comparação dos resultados obtidos, espera-se ser extraído um ranqueamento dos modelos, prompts e combinações e comentários sobre os casos observados.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381000" y="355847"/>
            <a:ext cx="83814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</a:pPr>
            <a:r>
              <a:rPr lang="pt-BR"/>
              <a:t>CRONOGRAMA</a:t>
            </a:r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380999" y="1719071"/>
            <a:ext cx="84078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7432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613" y="1719075"/>
            <a:ext cx="5352781" cy="440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381000" y="355847"/>
            <a:ext cx="83814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Medium"/>
              <a:buNone/>
            </a:pPr>
            <a:r>
              <a:rPr lang="pt-BR"/>
              <a:t>ORÇAMENTO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380999" y="1719071"/>
            <a:ext cx="84078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◼"/>
            </a:pPr>
            <a:r>
              <a:rPr lang="pt-BR"/>
              <a:t>Não haverá necessidade de investimentos nesta pesquisa, visto que trata-se de um experimento que utiliza versões gratuitas e acessíveis ao usuário geral.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ad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